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1645920"/>
          </a:xfrm>
          <a:prstGeom prst="roundRect">
            <a:avLst>
              <a:gd name="adj" fmla="val 10000"/>
            </a:avLst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188720"/>
            <a:ext cx="1554480" cy="3200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08760"/>
            <a:ext cx="822960" cy="822960"/>
          </a:xfrm>
          <a:prstGeom prst="ellipse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28016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CDD6F4"/>
                </a:solidFill>
              </a:rPr>
              <a:t>Kid Camera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5603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9DCEB"/>
                </a:solidFill>
              </a:rPr>
              <a:t>Waveshare ESP32-S3-Touch-LCD-2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1089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AC2DE"/>
                </a:solidFill>
              </a:rPr>
              <a:t>เอกสารอธิบาย Architecture · Flow · Source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3840480"/>
            <a:ext cx="5486400" cy="36576"/>
          </a:xfrm>
          <a:prstGeom prst="rect">
            <a:avLst/>
          </a:prstGeom>
          <a:solidFill>
            <a:srgbClr val="58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397763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  MCU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97763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ESP32-S3-WROOM-1  240 MHz dual-core Xtensa LX7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3616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  Flash / 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36168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8 MB QIO Flash  +  8 MB OPI PSRAM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74573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  Display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745736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ST7789T3  2.0" IPS  240×320  SPI @ 80 MHz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129783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  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5129783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OV2640  HQVGA preview / SVGA capture (JPEG)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513831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 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5513831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MicroSD card  (shared SPI bus with display)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89787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  Frameworks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89787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PlatformIO · Arduino · GFX 1.4.0 · JPEGDEC 1.8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85B70"/>
                </a:solidFill>
              </a:rPr>
              <a:t>Page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DD6F4"/>
                </a:solidFill>
              </a:rPr>
              <a:t>Hardware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85B70"/>
                </a:solidFill>
              </a:rPr>
              <a:t>Slide 2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286000"/>
            <a:ext cx="3383280" cy="2286000"/>
          </a:xfrm>
          <a:prstGeom prst="roundRect">
            <a:avLst>
              <a:gd name="adj" fmla="val 8000"/>
            </a:avLst>
          </a:prstGeom>
          <a:solidFill>
            <a:srgbClr val="313244"/>
          </a:solidFill>
          <a:ln w="19050">
            <a:solidFill>
              <a:srgbClr val="89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840" y="237744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9DCEB"/>
                </a:solidFill>
              </a:rPr>
              <a:t>ESP32-S3
240 MHz · 320 KB SRAM
8 MB Flash · 8 MB PSRAM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E567A"/>
          </a:solidFill>
          <a:ln w="19050">
            <a:solidFill>
              <a:srgbClr val="89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ST7789T3
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67865"/>
            <a:ext cx="2377440" cy="526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AC2DE"/>
                </a:solidFill>
              </a:rPr>
              <a:t>240×320 IPS
SPI 80 MHz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46888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A4A1A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51460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OV2640
Camera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39465"/>
            <a:ext cx="2377440" cy="526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AC2DE"/>
                </a:solidFill>
              </a:rPr>
              <a:t>CSI · HQVGA/SVGA
JPEG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840480"/>
            <a:ext cx="2377440" cy="1005840"/>
          </a:xfrm>
          <a:prstGeom prst="roundRect">
            <a:avLst>
              <a:gd name="adj" fmla="val 6000"/>
            </a:avLst>
          </a:prstGeom>
          <a:solidFill>
            <a:srgbClr val="4A2A5A"/>
          </a:solidFill>
          <a:ln w="1905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886200"/>
            <a:ext cx="237744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CST816D
Touch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363516"/>
            <a:ext cx="2377440" cy="482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AC2DE"/>
                </a:solidFill>
              </a:rPr>
              <a:t>I²C 0x15
GPIO 47/48/46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097280"/>
            <a:ext cx="2286000" cy="1097280"/>
          </a:xfrm>
          <a:prstGeom prst="roundRect">
            <a:avLst>
              <a:gd name="adj" fmla="val 6000"/>
            </a:avLst>
          </a:prstGeom>
          <a:solidFill>
            <a:srgbClr val="5A3A0A"/>
          </a:solidFill>
          <a:ln w="1905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143000"/>
            <a:ext cx="2286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MicroSD
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1667865"/>
            <a:ext cx="2286000" cy="526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AC2DE"/>
                </a:solidFill>
              </a:rPr>
              <a:t>SPI shared bus
SD_CS = GPIO41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2468880"/>
            <a:ext cx="2286000" cy="1097280"/>
          </a:xfrm>
          <a:prstGeom prst="roundRect">
            <a:avLst>
              <a:gd name="adj" fmla="val 6000"/>
            </a:avLst>
          </a:prstGeom>
          <a:solidFill>
            <a:srgbClr val="4A0A1A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514600"/>
            <a:ext cx="2286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Buzzer
(Passive Piezo)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039465"/>
            <a:ext cx="2286000" cy="526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AC2DE"/>
                </a:solidFill>
              </a:rPr>
              <a:t>PWM tone()
GPIO 18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384048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0A3A5A"/>
          </a:solidFill>
          <a:ln w="19050">
            <a:solidFill>
              <a:srgbClr val="89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3886200"/>
            <a:ext cx="22860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USB-C
CDC Serial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4363516"/>
            <a:ext cx="2286000" cy="482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AC2DE"/>
                </a:solidFill>
              </a:rPr>
              <a:t>USB OTG (native)
115200 baud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3291840"/>
            <a:ext cx="1417320" cy="36576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337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AB387"/>
                </a:solidFill>
              </a:rPr>
              <a:t>SPI Bus (SCK=39, MOSI=38, MISO=40)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4343400"/>
            <a:ext cx="1417320" cy="36576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A6F7"/>
                </a:solidFill>
              </a:rPr>
              <a:t>I²C Bus (SDA=48, SCL=47)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" y="3566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6E3A1"/>
                </a:solidFill>
              </a:rPr>
              <a:t>CSI (Parallel)
XCLK,PCLK,VSYNC
HREF,Y2-Y9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51760" y="1645920"/>
            <a:ext cx="1737360" cy="1097280"/>
          </a:xfrm>
          <a:prstGeom prst="line">
            <a:avLst/>
          </a:prstGeom>
          <a:ln w="19050">
            <a:solidFill>
              <a:srgbClr val="89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651760" y="3017520"/>
            <a:ext cx="1737360" cy="0"/>
          </a:xfrm>
          <a:prstGeom prst="line">
            <a:avLst/>
          </a:prstGeom>
          <a:ln w="19050">
            <a:solidFill>
              <a:srgbClr val="A6E3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651760" y="4114800"/>
            <a:ext cx="1737360" cy="228600"/>
          </a:xfrm>
          <a:prstGeom prst="line">
            <a:avLst/>
          </a:prstGeom>
          <a:ln w="19050">
            <a:solidFill>
              <a:srgbClr val="CBA6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7772400" y="1645920"/>
            <a:ext cx="1737360" cy="1097280"/>
          </a:xfrm>
          <a:prstGeom prst="line">
            <a:avLst/>
          </a:prstGeom>
          <a:ln w="19050">
            <a:solidFill>
              <a:srgbClr val="FA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772400" y="3017520"/>
            <a:ext cx="1737360" cy="0"/>
          </a:xfrm>
          <a:prstGeom prst="line">
            <a:avLst/>
          </a:prstGeom>
          <a:ln w="19050">
            <a:solidFill>
              <a:srgbClr val="F38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7772400" y="4114800"/>
            <a:ext cx="1737360" cy="228600"/>
          </a:xfrm>
          <a:prstGeom prst="line">
            <a:avLst/>
          </a:prstGeom>
          <a:ln w="19050">
            <a:solidFill>
              <a:srgbClr val="89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DD6F4"/>
                </a:solidFill>
              </a:rPr>
              <a:t>Software Modules (Source Files)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85B70"/>
                </a:solidFill>
              </a:rPr>
              <a:t>Slide 3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22960"/>
            <a:ext cx="2834640" cy="1920240"/>
          </a:xfrm>
          <a:prstGeom prst="roundRect">
            <a:avLst>
              <a:gd name="adj" fmla="val 6000"/>
            </a:avLst>
          </a:prstGeom>
          <a:solidFill>
            <a:srgbClr val="4A4A00"/>
          </a:solidFill>
          <a:ln w="1905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E2AF"/>
                </a:solidFill>
              </a:rPr>
              <a:t>config.h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801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Pin Definitions
&amp; Constants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GPIO map, UI colors, WiFi creds,
photo path, app constants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822960"/>
            <a:ext cx="2834640" cy="1920240"/>
          </a:xfrm>
          <a:prstGeom prst="roundRect">
            <a:avLst>
              <a:gd name="adj" fmla="val 6000"/>
            </a:avLst>
          </a:prstGeom>
          <a:solidFill>
            <a:srgbClr val="003A5A"/>
          </a:solidFill>
          <a:ln w="19050">
            <a:solidFill>
              <a:srgbClr val="89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8961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9DCEB"/>
                </a:solidFill>
              </a:rPr>
              <a:t>display.h/.cpp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2801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GFX Display
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Arduino_GFX ST7789 @ 80 MHz SPI
Backlight control, fillScreen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822960"/>
            <a:ext cx="2834640" cy="1920240"/>
          </a:xfrm>
          <a:prstGeom prst="roundRect">
            <a:avLst>
              <a:gd name="adj" fmla="val 6000"/>
            </a:avLst>
          </a:prstGeom>
          <a:solidFill>
            <a:srgbClr val="2A004A"/>
          </a:solidFill>
          <a:ln w="1905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8961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BA6F7"/>
                </a:solidFill>
              </a:rPr>
              <a:t>touch.h/.cpp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2801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CST816D Touch
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I²C Wire, read XY coords,
debounce in main.cpp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822960"/>
            <a:ext cx="2834640" cy="1920240"/>
          </a:xfrm>
          <a:prstGeom prst="roundRect">
            <a:avLst>
              <a:gd name="adj" fmla="val 6000"/>
            </a:avLst>
          </a:prstGeom>
          <a:solidFill>
            <a:srgbClr val="003A00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8961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cam.h/.cpp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2801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OV2640 Camera
Driver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esp_camera_init(), HQVGA preview
SVGA capture, frame grab/return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017520"/>
            <a:ext cx="2834640" cy="1920240"/>
          </a:xfrm>
          <a:prstGeom prst="roundRect">
            <a:avLst>
              <a:gd name="adj" fmla="val 6000"/>
            </a:avLst>
          </a:prstGeom>
          <a:solidFill>
            <a:srgbClr val="4A2A00"/>
          </a:solidFill>
          <a:ln w="1905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090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AB387"/>
                </a:solidFill>
              </a:rPr>
              <a:t>sdcard.h/.cpp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4747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SD Card
File I/O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0233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SD.begin(SD_CS), save/list/delete
JPEG files in /photos/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3017520"/>
            <a:ext cx="2834640" cy="1920240"/>
          </a:xfrm>
          <a:prstGeom prst="roundRect">
            <a:avLst>
              <a:gd name="adj" fmla="val 6000"/>
            </a:avLst>
          </a:prstGeom>
          <a:solidFill>
            <a:srgbClr val="4A0010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3090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8BA8"/>
                </a:solidFill>
              </a:rPr>
              <a:t>buzzer.h/.cpp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4747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Buzzer
Sound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0233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tone(GPIO18) shutter click
two-note 80 ms sequence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017520"/>
            <a:ext cx="2834640" cy="1920240"/>
          </a:xfrm>
          <a:prstGeom prst="roundRect">
            <a:avLst>
              <a:gd name="adj" fmla="val 6000"/>
            </a:avLst>
          </a:prstGeom>
          <a:solidFill>
            <a:srgbClr val="002A4A"/>
          </a:solidFill>
          <a:ln w="19050">
            <a:solidFill>
              <a:srgbClr val="89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3090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9DCEB"/>
                </a:solidFill>
              </a:rPr>
              <a:t>wifi_server
.h/.cpp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4747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AsyncWebServer
AP Gallery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0233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WiFi SoftAP, AsyncWebServer
HTTP gallery + photo + delete APIs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3017520"/>
            <a:ext cx="2834640" cy="1920240"/>
          </a:xfrm>
          <a:prstGeom prst="roundRect">
            <a:avLst>
              <a:gd name="adj" fmla="val 6000"/>
            </a:avLst>
          </a:prstGeom>
          <a:solidFill>
            <a:srgbClr val="2A2A4A"/>
          </a:solidFill>
          <a:ln w="19050">
            <a:solidFill>
              <a:srgbClr val="CDD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3090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DD6F4"/>
                </a:solidFill>
              </a:rPr>
              <a:t>main.cpp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4747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State Machine
&amp; Orchestration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0233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setup(), loop(), 4 states:
VIEWFINDER/CAPTURE/GALLERY/PHOTO_VIEW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257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9E2AF"/>
                </a:solidFill>
              </a:rPr>
              <a:t>← config.h ถูก #include โดยทุก module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5623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</a:rPr>
              <a:t>main.cpp เป็นตัว orchestrate ทุก module ผ่าน function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DD6F4"/>
                </a:solidFill>
              </a:rPr>
              <a:t>Module Call Map — ใครเรียกใคร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85B70"/>
                </a:solidFill>
              </a:rPr>
              <a:t>Slide 4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560320"/>
            <a:ext cx="2286000" cy="1737360"/>
          </a:xfrm>
          <a:prstGeom prst="roundRect">
            <a:avLst>
              <a:gd name="adj" fmla="val 8000"/>
            </a:avLst>
          </a:prstGeom>
          <a:solidFill>
            <a:srgbClr val="2A2A4A"/>
          </a:solidFill>
          <a:ln w="19050">
            <a:solidFill>
              <a:srgbClr val="CDD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6060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DD6F4"/>
                </a:solidFill>
              </a:rPr>
              <a:t>main.cpp
(setup + loop)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640080"/>
            <a:ext cx="3931920" cy="822959"/>
          </a:xfrm>
          <a:prstGeom prst="roundRect">
            <a:avLst>
              <a:gd name="adj" fmla="val 6000"/>
            </a:avLst>
          </a:prstGeom>
          <a:solidFill>
            <a:srgbClr val="002A4A"/>
          </a:solidFill>
          <a:ln w="19050">
            <a:solidFill>
              <a:srgbClr val="89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685800"/>
            <a:ext cx="374903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display_init()
gfx→ draw*()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560320" y="1051560"/>
            <a:ext cx="640080" cy="2377440"/>
          </a:xfrm>
          <a:prstGeom prst="line">
            <a:avLst/>
          </a:prstGeom>
          <a:ln w="15240">
            <a:solidFill>
              <a:srgbClr val="89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00400" y="1783080"/>
            <a:ext cx="3931920" cy="822959"/>
          </a:xfrm>
          <a:prstGeom prst="roundRect">
            <a:avLst>
              <a:gd name="adj" fmla="val 6000"/>
            </a:avLst>
          </a:prstGeom>
          <a:solidFill>
            <a:srgbClr val="2A004A"/>
          </a:solidFill>
          <a:ln w="1905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374903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touch_init()
touch_read()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560320" y="2194560"/>
            <a:ext cx="640080" cy="1234440"/>
          </a:xfrm>
          <a:prstGeom prst="line">
            <a:avLst/>
          </a:prstGeom>
          <a:ln w="15240">
            <a:solidFill>
              <a:srgbClr val="CBA6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00400" y="2788920"/>
            <a:ext cx="3931920" cy="1142999"/>
          </a:xfrm>
          <a:prstGeom prst="roundRect">
            <a:avLst>
              <a:gd name="adj" fmla="val 6000"/>
            </a:avLst>
          </a:prstGeom>
          <a:solidFill>
            <a:srgbClr val="002A00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834639"/>
            <a:ext cx="3749039" cy="1051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cam_init()
cam_get_preview()
cam_capture()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560320" y="3360420"/>
            <a:ext cx="640080" cy="68580"/>
          </a:xfrm>
          <a:prstGeom prst="line">
            <a:avLst/>
          </a:prstGeom>
          <a:ln w="15240">
            <a:solidFill>
              <a:srgbClr val="A6E3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00400" y="3977639"/>
            <a:ext cx="3931920" cy="1463039"/>
          </a:xfrm>
          <a:prstGeom prst="roundRect">
            <a:avLst>
              <a:gd name="adj" fmla="val 6000"/>
            </a:avLst>
          </a:prstGeom>
          <a:solidFill>
            <a:srgbClr val="4A2A00"/>
          </a:solidFill>
          <a:ln w="1905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4023359"/>
            <a:ext cx="3749039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sdcard_init()
sdcard_save_photo()
sdcard_list_photos()
sdcard_delete_photo()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60320" y="3429000"/>
            <a:ext cx="640080" cy="1280159"/>
          </a:xfrm>
          <a:prstGeom prst="line">
            <a:avLst/>
          </a:prstGeom>
          <a:ln w="15240">
            <a:solidFill>
              <a:srgbClr val="FA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640080"/>
            <a:ext cx="3931920" cy="822959"/>
          </a:xfrm>
          <a:prstGeom prst="roundRect">
            <a:avLst>
              <a:gd name="adj" fmla="val 6000"/>
            </a:avLst>
          </a:prstGeom>
          <a:solidFill>
            <a:srgbClr val="4A0010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685800"/>
            <a:ext cx="374903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buzzer_init()
buzzer_shutter()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560320" y="1051560"/>
            <a:ext cx="5212080" cy="2377440"/>
          </a:xfrm>
          <a:prstGeom prst="line">
            <a:avLst/>
          </a:prstGeom>
          <a:ln w="15240">
            <a:solidFill>
              <a:srgbClr val="F38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1783080"/>
            <a:ext cx="3931920" cy="1142999"/>
          </a:xfrm>
          <a:prstGeom prst="roundRect">
            <a:avLst>
              <a:gd name="adj" fmla="val 6000"/>
            </a:avLst>
          </a:prstGeom>
          <a:solidFill>
            <a:srgbClr val="002A4A"/>
          </a:solidFill>
          <a:ln w="19050">
            <a:solidFill>
              <a:srgbClr val="89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1828800"/>
            <a:ext cx="3749039" cy="1051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wifi_server_start()
wifi_server_stop()
wifi_get_ip()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560320" y="2354579"/>
            <a:ext cx="5212080" cy="1074421"/>
          </a:xfrm>
          <a:prstGeom prst="line">
            <a:avLst/>
          </a:prstGeom>
          <a:ln w="15240">
            <a:solidFill>
              <a:srgbClr val="89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2926080"/>
            <a:ext cx="3931920" cy="1142999"/>
          </a:xfrm>
          <a:prstGeom prst="roundRect">
            <a:avLst>
              <a:gd name="adj" fmla="val 6000"/>
            </a:avLst>
          </a:prstGeom>
          <a:solidFill>
            <a:srgbClr val="3A3A00"/>
          </a:solidFill>
          <a:ln w="1905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971800"/>
            <a:ext cx="3749039" cy="1051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_jpeg.openRAM()
_jpeg.decode()
draw_jpeg_from_sd()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60320" y="3429000"/>
            <a:ext cx="5212080" cy="68580"/>
          </a:xfrm>
          <a:prstGeom prst="line">
            <a:avLst/>
          </a:prstGeom>
          <a:ln w="15240">
            <a:solidFill>
              <a:srgbClr val="F9E2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0" y="4754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9E2AF"/>
                </a:solidFill>
              </a:rPr>
              <a:t>JPEGDEC
lib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475488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3A3A00"/>
          </a:solidFill>
          <a:ln w="1905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4754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9E2AF"/>
                </a:solidFill>
              </a:rPr>
              <a:t>JPEGDEC
lib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4892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9DCEB"/>
                </a:solidFill>
              </a:rPr>
              <a:t>→ callback → gfx→draw16bitRGBBitmap()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DD6F4"/>
                </a:solidFill>
              </a:rPr>
              <a:t>State Machine Flow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85B70"/>
                </a:solidFill>
              </a:rPr>
              <a:t>Slide 5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777240"/>
            <a:ext cx="2286000" cy="594360"/>
          </a:xfrm>
          <a:prstGeom prst="roundRect">
            <a:avLst>
              <a:gd name="adj" fmla="val 50000"/>
            </a:avLst>
          </a:prstGeom>
          <a:solidFill>
            <a:srgbClr val="282848"/>
          </a:solidFill>
          <a:ln w="19050">
            <a:solidFill>
              <a:srgbClr val="89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7772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9DCEB"/>
                </a:solidFill>
              </a:rPr>
              <a:t>BOOT  (setup)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508760"/>
            <a:ext cx="6400800" cy="2331720"/>
          </a:xfrm>
          <a:prstGeom prst="roundRect">
            <a:avLst>
              <a:gd name="adj" fmla="val 4000"/>
            </a:avLst>
          </a:prstGeom>
          <a:solidFill>
            <a:srgbClr val="18182E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57276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display_init()   → ST7789 SPI init + backlight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2024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  touch_init()     → CST816D I²C probe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26771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cam_init()       → OV2640 JPEG HQVGA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15184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  sdcard_init()    → SD.begin(), scan /photos/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962656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buzzer_init()    → pinMode 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31012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  Splash screen  → orange background 600 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3840480"/>
            <a:ext cx="0" cy="365760"/>
          </a:xfrm>
          <a:prstGeom prst="line">
            <a:avLst/>
          </a:prstGeom>
          <a:ln w="19050">
            <a:solidFill>
              <a:srgbClr val="A6E3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89120" y="420624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003A20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2062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6E3A1"/>
                </a:solidFill>
              </a:rPr>
              <a:t>STATE_VIEWFINDER
(default)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224528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loop(): cam_get_preview() → JPEGDEC decode → gfx draw
draw_info_bar() · draw_ctrl_bar() · debounced_touch()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651760" y="4892040"/>
            <a:ext cx="2377440" cy="457200"/>
          </a:xfrm>
          <a:prstGeom prst="line">
            <a:avLst/>
          </a:prstGeom>
          <a:ln w="19050">
            <a:solidFill>
              <a:srgbClr val="FA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86000" y="5029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AB387"/>
                </a:solidFill>
              </a:rPr>
              <a:t>tap SHOOT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66560" y="4892040"/>
            <a:ext cx="2377440" cy="457200"/>
          </a:xfrm>
          <a:prstGeom prst="line">
            <a:avLst/>
          </a:prstGeom>
          <a:ln w="19050">
            <a:solidFill>
              <a:srgbClr val="CBA6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0" y="5029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A6F7"/>
                </a:solidFill>
              </a:rPr>
              <a:t>tap PICS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23560" y="4892040"/>
            <a:ext cx="0" cy="1097280"/>
          </a:xfrm>
          <a:prstGeom prst="line">
            <a:avLst/>
          </a:prstGeom>
          <a:ln w="19050">
            <a:solidFill>
              <a:srgbClr val="89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83280" y="5989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9DCEB"/>
                </a:solidFill>
              </a:rPr>
              <a:t>tap WiFi → wifi_server_start/stop()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34924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3A1000"/>
          </a:solidFill>
          <a:ln w="1905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5349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AB387"/>
                </a:solidFill>
              </a:rPr>
              <a:t>STATE_CAPTURE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6080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AC2DE"/>
                </a:solidFill>
              </a:rPr>
              <a:t>do_capture(): fillScreen white
cam_capture() SVGA
sdcard_save_photo()
buzzer_shutter()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417320" y="4754880"/>
            <a:ext cx="3154680" cy="1280160"/>
          </a:xfrm>
          <a:prstGeom prst="line">
            <a:avLst/>
          </a:prstGeom>
          <a:ln w="19050">
            <a:solidFill>
              <a:srgbClr val="FA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4320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AB387"/>
                </a:solidFill>
              </a:rPr>
              <a:t>→ back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534924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20003A"/>
          </a:solidFill>
          <a:ln w="1905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5349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BA6F7"/>
                </a:solidFill>
              </a:rPr>
              <a:t>STATE_GALLERY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6080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AC2DE"/>
                </a:solidFill>
              </a:rPr>
              <a:t>draw_gallery(): 6 thumbs/page
sdcard_list_photos()
draw_jpeg_from_sd(JPEG_SCALE_EIGHTH)
← tap thumb → PHOTO_VIEW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589520" y="4754880"/>
            <a:ext cx="3154680" cy="1280160"/>
          </a:xfrm>
          <a:prstGeom prst="line">
            <a:avLst/>
          </a:prstGeom>
          <a:ln w="19050">
            <a:solidFill>
              <a:srgbClr val="CBA6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68680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A6F7"/>
                </a:solidFill>
              </a:rPr>
              <a:t>← 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DD6F4"/>
                </a:solidFill>
              </a:rPr>
              <a:t>Camera &amp; JPEG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85B70"/>
                </a:solidFill>
              </a:rPr>
              <a:t>Slide 6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6E3A1"/>
                </a:solidFill>
              </a:rPr>
              <a:t>▶ LIVE PREVIEW (every loop frame)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003A00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OV2640
HQVGA
240×176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39" y="1691640"/>
            <a:ext cx="274321" cy="0"/>
          </a:xfrm>
          <a:prstGeom prst="line">
            <a:avLst/>
          </a:prstGeom>
          <a:ln w="25400">
            <a:solidFill>
              <a:srgbClr val="A6E3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51760" y="118872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002A4A"/>
          </a:solidFill>
          <a:ln w="19050">
            <a:solidFill>
              <a:srgbClr val="89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1887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JPEG
buffer
(PSRAM)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79" y="1691640"/>
            <a:ext cx="274321" cy="0"/>
          </a:xfrm>
          <a:prstGeom prst="line">
            <a:avLst/>
          </a:prstGeom>
          <a:ln w="25400">
            <a:solidFill>
              <a:srgbClr val="89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0" y="118872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3A3A00"/>
          </a:solidFill>
          <a:ln w="1905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1887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9E2AF"/>
                </a:solidFill>
              </a:rPr>
              <a:t>JPEGDEC
openRAM()
decode(0,0,0)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0" y="1691640"/>
            <a:ext cx="274320" cy="0"/>
          </a:xfrm>
          <a:prstGeom prst="line">
            <a:avLst/>
          </a:prstGeom>
          <a:ln w="25400">
            <a:solidFill>
              <a:srgbClr val="F9E2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0" y="118872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4A2A00"/>
          </a:solidFill>
          <a:ln w="1905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1887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gfx→
draw16bit
RGBBitmap()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09760" y="1691640"/>
            <a:ext cx="274320" cy="0"/>
          </a:xfrm>
          <a:prstGeom prst="line">
            <a:avLst/>
          </a:prstGeom>
          <a:ln w="25400">
            <a:solidFill>
              <a:srgbClr val="FA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84080" y="118872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002A4A"/>
          </a:solidFill>
          <a:ln w="19050">
            <a:solidFill>
              <a:srgbClr val="89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1887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ST7789
Display
y=0..175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423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B387"/>
                </a:solidFill>
              </a:rPr>
              <a:t>▶ PHOTO CAPTURE (tap SHOOT)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83464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003A00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8346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OV2640
SVGA
800×600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77439" y="3337560"/>
            <a:ext cx="274321" cy="0"/>
          </a:xfrm>
          <a:prstGeom prst="line">
            <a:avLst/>
          </a:prstGeom>
          <a:ln w="25400">
            <a:solidFill>
              <a:srgbClr val="A6E3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651760" y="283464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002A4A"/>
          </a:solidFill>
          <a:ln w="19050">
            <a:solidFill>
              <a:srgbClr val="89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28346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JPEG
buffer
~100 KB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54879" y="3337560"/>
            <a:ext cx="274321" cy="0"/>
          </a:xfrm>
          <a:prstGeom prst="line">
            <a:avLst/>
          </a:prstGeom>
          <a:ln w="25400">
            <a:solidFill>
              <a:srgbClr val="89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29200" y="283464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4A2A00"/>
          </a:solidFill>
          <a:ln w="1905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28346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SD.open()
FILE_WRITE
write(buf)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32320" y="3337560"/>
            <a:ext cx="274320" cy="0"/>
          </a:xfrm>
          <a:prstGeom prst="line">
            <a:avLst/>
          </a:prstGeom>
          <a:ln w="25400">
            <a:solidFill>
              <a:srgbClr val="FA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06640" y="283464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3A3A00"/>
          </a:solidFill>
          <a:ln w="1905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28346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/photos/
IMGxxxx
.jpg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09760" y="3337560"/>
            <a:ext cx="274320" cy="0"/>
          </a:xfrm>
          <a:prstGeom prst="line">
            <a:avLst/>
          </a:prstGeom>
          <a:ln w="25400">
            <a:solidFill>
              <a:srgbClr val="F9E2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784080" y="283464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4A0010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28346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buzzer
shutter()
tone()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069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BA6F7"/>
                </a:solidFill>
              </a:rPr>
              <a:t>▶ GALLERY THUMBNAIL (draw_gallery)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48056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4A2A00"/>
          </a:solidFill>
          <a:ln w="1905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48056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SD card
/photos/
IMGxxxx.jpg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377439" y="4983480"/>
            <a:ext cx="274321" cy="0"/>
          </a:xfrm>
          <a:prstGeom prst="line">
            <a:avLst/>
          </a:prstGeom>
          <a:ln w="25400">
            <a:solidFill>
              <a:srgbClr val="FA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651760" y="448056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002A4A"/>
          </a:solidFill>
          <a:ln w="19050">
            <a:solidFill>
              <a:srgbClr val="89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1760" y="448056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ps_malloc()
read to
PSRAM buf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754879" y="4983480"/>
            <a:ext cx="274321" cy="0"/>
          </a:xfrm>
          <a:prstGeom prst="line">
            <a:avLst/>
          </a:prstGeom>
          <a:ln w="25400">
            <a:solidFill>
              <a:srgbClr val="89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029200" y="448056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3A3A00"/>
          </a:solidFill>
          <a:ln w="1905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0" y="448056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JPEGDEC
openRAM()
decode(x,y,8)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32320" y="4983480"/>
            <a:ext cx="274320" cy="0"/>
          </a:xfrm>
          <a:prstGeom prst="line">
            <a:avLst/>
          </a:prstGeom>
          <a:ln w="25400">
            <a:solidFill>
              <a:srgbClr val="F9E2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406640" y="448056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2A004A"/>
          </a:solidFill>
          <a:ln w="1905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448056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74×74 px
thumbnail
on screen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509760" y="4983480"/>
            <a:ext cx="274320" cy="0"/>
          </a:xfrm>
          <a:prstGeom prst="line">
            <a:avLst/>
          </a:prstGeom>
          <a:ln w="25400">
            <a:solidFill>
              <a:srgbClr val="CBA6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784080" y="448056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18182E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84080" y="448056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drawRect
border
gray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9E2AF"/>
                </a:solidFill>
              </a:rPr>
              <a:t>JPEG_SCALE_EIGHTH = 8  →  800×600 ÷ 8 = 100×75 px (ใส่ใน slot 74×74 ได้พอดี)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DD6F4"/>
                </a:solidFill>
              </a:rPr>
              <a:t>WiFi Gallery + SPI Bus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85B70"/>
                </a:solidFill>
              </a:rPr>
              <a:t>Slide 7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77240"/>
            <a:ext cx="5669280" cy="2926080"/>
          </a:xfrm>
          <a:prstGeom prst="roundRect">
            <a:avLst>
              <a:gd name="adj" fmla="val 6000"/>
            </a:avLst>
          </a:prstGeom>
          <a:solidFill>
            <a:srgbClr val="0A1A30"/>
          </a:solidFill>
          <a:ln w="19050">
            <a:solidFill>
              <a:srgbClr val="89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DCEB"/>
                </a:solidFill>
              </a:rPr>
              <a:t>WiFi Access Point Gallery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SSID: "KidCamera"  Password: "12345678"  IP: 192.168.4.1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270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• tap [WiFi] button → wifi_server_start() → AsyncWebServer.begin()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1965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GET  /        →  buildPage() อ่าน /photos/* จาก SD แล้วสร้าง 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122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• GET  /photo?file=IMG0001.jpg  →  req→send(SD, path, image/jpeg)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048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DELETE /delete?file=IMG0001.jpg  →  SD.remove(path)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974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• safe_filename() ป้องกัน path traversal (../ และ \)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900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Browsers เปิดได้จาก phone/PC บน WiFi เดียวกัน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777240"/>
            <a:ext cx="5760720" cy="2926080"/>
          </a:xfrm>
          <a:prstGeom prst="roundRect">
            <a:avLst>
              <a:gd name="adj" fmla="val 6000"/>
            </a:avLst>
          </a:prstGeom>
          <a:solidFill>
            <a:srgbClr val="1A2010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8229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6E3A1"/>
                </a:solidFill>
              </a:rPr>
              <a:t>SPI Bus Sharing (Display + SD)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  SCK  = GPIO 39    MOSI = GPIO 38    MISO = GPIO 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5270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5B70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81965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  LCD_CS  = GPIO 45  →  Arduino_GFX ควบคุม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122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  SD_CS   = GPIO 41  →  SD library ควบคุม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4048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5B70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6974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✓ CS แตกต่างกัน → ใช้ bus ร่วมกันได้ไม่ conflict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9900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✓ display_init() ต้องเรียกก่อน sdcard_init()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28269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  (GFX เริ่ม SPI bus, SD ใช้ bus ที่เริ่มแล้ว)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7530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✓ 80 MHz สำหรับ Display / 40 MHz สำหรับ SD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931920"/>
            <a:ext cx="5486400" cy="2651760"/>
          </a:xfrm>
          <a:prstGeom prst="roundRect">
            <a:avLst>
              <a:gd name="adj" fmla="val 4000"/>
            </a:avLst>
          </a:prstGeom>
          <a:solidFill>
            <a:srgbClr val="18182E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977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DD6F4"/>
                </a:solidFill>
              </a:rPr>
              <a:t>หน้าจอ Portrait 240×320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389120"/>
            <a:ext cx="5303520" cy="1005840"/>
          </a:xfrm>
          <a:prstGeom prst="roundRect">
            <a:avLst>
              <a:gd name="adj" fmla="val 3000"/>
            </a:avLst>
          </a:prstGeom>
          <a:solidFill>
            <a:srgbClr val="002A4A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7548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Camera Preview  y = 0 .. 175   (240×176 px  HQVGA)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413248"/>
            <a:ext cx="5303520" cy="365760"/>
          </a:xfrm>
          <a:prstGeom prst="roundRect">
            <a:avLst>
              <a:gd name="adj" fmla="val 3000"/>
            </a:avLst>
          </a:prstGeom>
          <a:solidFill>
            <a:srgbClr val="1E2E1E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4589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Info Bar  y = 176 .. 199  (photo count, WiFi IP)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788152"/>
            <a:ext cx="5303520" cy="594360"/>
          </a:xfrm>
          <a:prstGeom prst="roundRect">
            <a:avLst>
              <a:gd name="adj" fmla="val 3000"/>
            </a:avLst>
          </a:prstGeom>
          <a:solidFill>
            <a:srgbClr val="2A2A00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9481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Control Bar  y = 200 .. 319  [PICS] [●SHOOT] [WiFi]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931920"/>
            <a:ext cx="5760720" cy="2651760"/>
          </a:xfrm>
          <a:prstGeom prst="roundRect">
            <a:avLst>
              <a:gd name="adj" fmla="val 4000"/>
            </a:avLst>
          </a:prstGeom>
          <a:solidFill>
            <a:srgbClr val="18182E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9776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DD6F4"/>
                </a:solidFill>
              </a:rPr>
              <a:t>Control Bar Buttons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434840"/>
            <a:ext cx="1371600" cy="1645920"/>
          </a:xfrm>
          <a:prstGeom prst="roundRect">
            <a:avLst>
              <a:gd name="adj" fmla="val 8000"/>
            </a:avLst>
          </a:prstGeom>
          <a:solidFill>
            <a:srgbClr val="3A005A"/>
          </a:solidFill>
          <a:ln w="1905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44348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PICS
x:4-74
y:CTRL_Y
+10..+110</a:t>
            </a:r>
          </a:p>
        </p:txBody>
      </p:sp>
      <p:sp>
        <p:nvSpPr>
          <p:cNvPr id="37" name="Oval 36"/>
          <p:cNvSpPr/>
          <p:nvPr/>
        </p:nvSpPr>
        <p:spPr>
          <a:xfrm>
            <a:off x="7909560" y="4480560"/>
            <a:ext cx="1463040" cy="1463040"/>
          </a:xfrm>
          <a:prstGeom prst="ellipse">
            <a:avLst/>
          </a:prstGeom>
          <a:solidFill>
            <a:srgbClr val="404040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38160" y="4709160"/>
            <a:ext cx="1005840" cy="10058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9560" y="59893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SHOOT
r=46 px
center
(120,260)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0" y="4434840"/>
            <a:ext cx="1371600" cy="1645920"/>
          </a:xfrm>
          <a:prstGeom prst="roundRect">
            <a:avLst>
              <a:gd name="adj" fmla="val 8000"/>
            </a:avLst>
          </a:prstGeom>
          <a:solidFill>
            <a:srgbClr val="003A10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0" y="44348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WiFi
ON=Green
OFF=Gray
x:166-236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DD6F4"/>
                </a:solidFill>
              </a:rPr>
              <a:t>วิธีต่อยอด &amp; ปรับแต่ง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85B70"/>
                </a:solidFill>
              </a:rPr>
              <a:t>Slide 8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77240"/>
            <a:ext cx="5669280" cy="1691640"/>
          </a:xfrm>
          <a:prstGeom prst="roundRect">
            <a:avLst>
              <a:gd name="adj" fmla="val 6000"/>
            </a:avLst>
          </a:prstGeom>
          <a:solidFill>
            <a:srgbClr val="002A4A"/>
          </a:solidFill>
          <a:ln w="19050">
            <a:solidFill>
              <a:srgbClr val="89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85039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DCEB"/>
                </a:solidFill>
              </a:rPr>
              <a:t>🎨 เปลี่ยนสี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03520" cy="27432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716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config.h  →  แก้ COLOR_* constants
ตัวอย่าง: #define COLOR_BG 0x18E3  (navy)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777240"/>
            <a:ext cx="5669280" cy="1691640"/>
          </a:xfrm>
          <a:prstGeom prst="roundRect">
            <a:avLst>
              <a:gd name="adj" fmla="val 6000"/>
            </a:avLst>
          </a:prstGeom>
          <a:solidFill>
            <a:srgbClr val="002A00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85039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</a:rPr>
              <a:t>📷 เปลี่ยนความละเอียดกล้อง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280160"/>
            <a:ext cx="5303520" cy="2743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cam.cpp → cfg.frame_size = FRAMESIZE_XGA  (1024×768)
cam.cpp → cfg.jpeg_quality = 8  (คุณภาพสูงขึ้น)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697480"/>
            <a:ext cx="5669280" cy="1691640"/>
          </a:xfrm>
          <a:prstGeom prst="roundRect">
            <a:avLst>
              <a:gd name="adj" fmla="val 6000"/>
            </a:avLst>
          </a:prstGeom>
          <a:solidFill>
            <a:srgbClr val="4A0010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7706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8BA8"/>
                </a:solidFill>
              </a:rPr>
              <a:t>🔊 เปลี่ยนเสียง Shutter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03520" cy="27432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2918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buzzer.cpp → แก้ tone(BUZZER_PIN, 4000, 25)
เพิ่ม / ลด frequency และ duration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97480"/>
            <a:ext cx="5669280" cy="1691640"/>
          </a:xfrm>
          <a:prstGeom prst="roundRect">
            <a:avLst>
              <a:gd name="adj" fmla="val 6000"/>
            </a:avLst>
          </a:prstGeom>
          <a:solidFill>
            <a:srgbClr val="3A3A00"/>
          </a:solidFill>
          <a:ln w="1905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7706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E2AF"/>
                </a:solidFill>
              </a:rPr>
              <a:t>🌐 เพิ่ม Station Mode WiFi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3200400"/>
            <a:ext cx="5303520" cy="27432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2918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wifi_server.cpp → WiFi.begin(ssid, pass) แทน softAP
แก้ WIFI_AP_SSID/PASS ใน config.h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617720"/>
            <a:ext cx="5669280" cy="1691640"/>
          </a:xfrm>
          <a:prstGeom prst="roundRect">
            <a:avLst>
              <a:gd name="adj" fmla="val 6000"/>
            </a:avLst>
          </a:prstGeom>
          <a:solidFill>
            <a:srgbClr val="2A2A4A"/>
          </a:solidFill>
          <a:ln w="19050">
            <a:solidFill>
              <a:srgbClr val="CDD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4690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D6F4"/>
                </a:solidFill>
              </a:rPr>
              <a:t>🖼 เพิ่ม State ใหม่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20640"/>
            <a:ext cx="5303520" cy="27432"/>
          </a:xfrm>
          <a:prstGeom prst="rect">
            <a:avLst/>
          </a:prstGeom>
          <a:solidFill>
            <a:srgbClr val="CDD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52120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main.cpp → เพิ่ม enum AppState { ..., STATE_SETTINGS }
เขียน draw_settings() + handle_settings_touch()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617720"/>
            <a:ext cx="5669280" cy="1691640"/>
          </a:xfrm>
          <a:prstGeom prst="roundRect">
            <a:avLst>
              <a:gd name="adj" fmla="val 6000"/>
            </a:avLst>
          </a:prstGeom>
          <a:solidFill>
            <a:srgbClr val="4A2A00"/>
          </a:solidFill>
          <a:ln w="1905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690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AB387"/>
                </a:solidFill>
              </a:rPr>
              <a:t>⚡ ประหยัดไฟ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5120640"/>
            <a:ext cx="5303520" cy="27432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52120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main.cpp → esp_sleep_enable_timer_wakeup()
display_backlight(false) เมื่อไม่ touch 30 วิ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AC2DE"/>
                </a:solidFill>
              </a:rPr>
              <a:t>ไฟล์หลักที่ต้องแก้ส่วนใหญ่: config.h (pins/constants) · main.cpp (logic) · cam.cpp (camera settings)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